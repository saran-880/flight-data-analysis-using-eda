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4" r:id="rId10"/>
    <p:sldId id="292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89" r:id="rId37"/>
    <p:sldId id="259" r:id="rId38"/>
  </p:sldIdLst>
  <p:sldSz cx="12192000" cy="6858000"/>
  <p:notesSz cx="6858000" cy="9144000"/>
  <p:embeddedFontLst>
    <p:embeddedFont>
      <p:font typeface="Lato Black" panose="020F0502020204030203" pitchFamily="34" charset="0"/>
      <p:bold r:id="rId40"/>
      <p:boldItalic r:id="rId41"/>
    </p:embeddedFont>
    <p:embeddedFont>
      <p:font typeface="Libre Baskerville" panose="02000000000000000000" pitchFamily="2" charset="0"/>
      <p:regular r:id="rId42"/>
      <p:bold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ran-88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saran-akula-a1a6b823a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.irctc.co.in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1800" b="1" dirty="0"/>
              <a:t>Flight Data Analysis Using Exploratory Data Analysis</a:t>
            </a:r>
            <a:br>
              <a:rPr lang="en-US" sz="1800" dirty="0"/>
            </a:br>
            <a:r>
              <a:rPr lang="en-US" sz="1800" i="1" dirty="0"/>
              <a:t>Exploring Fares, Durations, Airlines &amp; Travel Patterns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8FCDE5-0831-6A5E-2E69-608239E87618}"/>
              </a:ext>
            </a:extLst>
          </p:cNvPr>
          <p:cNvSpPr txBox="1"/>
          <p:nvPr/>
        </p:nvSpPr>
        <p:spPr>
          <a:xfrm>
            <a:off x="8696336" y="5353853"/>
            <a:ext cx="27235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Presented By:</a:t>
            </a:r>
          </a:p>
          <a:p>
            <a:r>
              <a:rPr lang="en-US" sz="1800" dirty="0"/>
              <a:t>Saran Akula</a:t>
            </a:r>
          </a:p>
          <a:p>
            <a:r>
              <a:rPr lang="en-US" sz="1800" dirty="0"/>
              <a:t>Batch No : 456</a:t>
            </a:r>
            <a:endParaRPr lang="en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1"/>
            <a:ext cx="9723711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: </a:t>
            </a:r>
            <a:r>
              <a:rPr lang="en-IN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&amp; Communication Engineering (ECE)</a:t>
            </a:r>
            <a:b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Chaitanya Bharathi Institute of Technology (CBIT)</a:t>
            </a: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nb-N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GitHub: </a:t>
            </a:r>
            <a:r>
              <a:rPr lang="nb-N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tooltip="https://github.com/Saran-880"/>
              </a:rPr>
              <a:t>https://github.com/Saran-880</a:t>
            </a:r>
            <a:endParaRPr lang="nb-NO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nb-NO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b-N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</a:t>
            </a:r>
            <a:r>
              <a:rPr lang="nb-NO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https://www.linkedin.com/in/saran-akula-a1a6b823a/</a:t>
            </a:r>
            <a:endParaRPr lang="en-IN" sz="2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119508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Business Problem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Web Scraping details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Summary of Data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Data Understanding and Pre Processing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Data Cleaning and Manipulation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Univariate Analysis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Bivariate Analysis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Outlier Analysis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Hypothesis Testing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2DCF-CEBB-6E43-AD90-92E884F5F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36512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Business Problem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19121-6D47-0D3F-42A7-03FBC187D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710" y="1523540"/>
            <a:ext cx="10901516" cy="400218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ticket prices are influenced by multiple factors including airline choice, day of travel, flight duration, and departure timing. </a:t>
            </a: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creates uncertainty for consumers who want to optimize travel costs, and also highlights competitive pricing strategies used by airlines in the same market.</a:t>
            </a:r>
          </a:p>
        </p:txBody>
      </p:sp>
    </p:spTree>
    <p:extLst>
      <p:ext uri="{BB962C8B-B14F-4D97-AF65-F5344CB8AC3E}">
        <p14:creationId xmlns:p14="http://schemas.microsoft.com/office/powerpoint/2010/main" val="57464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6F07-70F9-3124-ED0D-D9A2226F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Objective of the Project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31689-EFEF-D5FF-E374-9A39B621C053}"/>
              </a:ext>
            </a:extLst>
          </p:cNvPr>
          <p:cNvSpPr txBox="1"/>
          <p:nvPr/>
        </p:nvSpPr>
        <p:spPr>
          <a:xfrm>
            <a:off x="838200" y="1602658"/>
            <a:ext cx="110121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Scrape flight fare data from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IRCTC Air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ticket prices across airlines operating on the same route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Examine weekend vs weekday fare variations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Analyze the relationship between flight duration and fare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Study price differences across departure hours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value carriers and optimal fare windows for consumers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7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72C4-77D5-C921-ABB6-206DA6F3C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Web Scraping –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353-6A3E-C43D-8C6D-E1E88097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0825"/>
            <a:ext cx="10515600" cy="4624336"/>
          </a:xfrm>
        </p:spPr>
        <p:txBody>
          <a:bodyPr>
            <a:normAutofit/>
          </a:bodyPr>
          <a:lstStyle/>
          <a:p>
            <a:r>
              <a:rPr lang="en-US" sz="3200" b="1" dirty="0"/>
              <a:t>Website : </a:t>
            </a:r>
            <a:r>
              <a:rPr lang="en-US" b="1" dirty="0" err="1">
                <a:hlinkClick r:id="rId2"/>
              </a:rPr>
              <a:t>Irctc</a:t>
            </a:r>
            <a:r>
              <a:rPr lang="en-US" b="1" dirty="0">
                <a:hlinkClick r:id="rId2"/>
              </a:rPr>
              <a:t> air</a:t>
            </a:r>
            <a:endParaRPr lang="en-US" b="1" dirty="0"/>
          </a:p>
          <a:p>
            <a:r>
              <a:rPr lang="en-US" sz="3200" b="1" dirty="0"/>
              <a:t>Tools &amp; Libraries Used: </a:t>
            </a:r>
            <a:r>
              <a:rPr lang="en-US" dirty="0"/>
              <a:t>Python, Selenium, Pandas, Seaborn, </a:t>
            </a:r>
            <a:r>
              <a:rPr lang="en-US" dirty="0" err="1"/>
              <a:t>Scipy</a:t>
            </a:r>
            <a:endParaRPr lang="en-US" dirty="0"/>
          </a:p>
          <a:p>
            <a:r>
              <a:rPr lang="en-US" sz="3200" b="1" dirty="0"/>
              <a:t>Approach: </a:t>
            </a:r>
          </a:p>
          <a:p>
            <a:pPr marL="1085850" lvl="1" indent="-514350">
              <a:buFont typeface="+mj-lt"/>
              <a:buAutoNum type="arabicPeriod"/>
            </a:pPr>
            <a:r>
              <a:rPr lang="en-US" sz="2800" dirty="0"/>
              <a:t>Scraped data from </a:t>
            </a:r>
            <a:r>
              <a:rPr lang="en-US" sz="2800" dirty="0" err="1"/>
              <a:t>Irctc</a:t>
            </a:r>
            <a:r>
              <a:rPr lang="en-US" sz="2800" dirty="0"/>
              <a:t> air website from different routes across different dates</a:t>
            </a:r>
          </a:p>
          <a:p>
            <a:pPr marL="1085850" lvl="1" indent="-514350">
              <a:buFont typeface="+mj-lt"/>
              <a:buAutoNum type="arabicPeriod"/>
            </a:pPr>
            <a:r>
              <a:rPr lang="en-US" sz="2800" dirty="0"/>
              <a:t>Extracted Airline Name, Source, Destination, Date, Arrival Time, Departure Time, Total Duration of journey and price.</a:t>
            </a:r>
          </a:p>
          <a:p>
            <a:pPr marL="1085850" lvl="1" indent="-514350">
              <a:buFont typeface="+mj-lt"/>
              <a:buAutoNum type="arabicPeriod"/>
            </a:pPr>
            <a:r>
              <a:rPr lang="en-US" sz="2800" dirty="0"/>
              <a:t> Saved everything into structured Data Frame for analysis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09911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8AAB-0134-EA68-6E9D-97A6BD27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4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Summary Of Data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5C982-53FD-05F6-3F0E-DFB7E3A45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3289"/>
            <a:ext cx="10515600" cy="29184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2500+ data rows of different routes across India like Hyderabad to Mumbai, Hyderabad to Goa and etc.</a:t>
            </a:r>
          </a:p>
          <a:p>
            <a:r>
              <a:rPr lang="en-US" dirty="0"/>
              <a:t>8 columns consisting of airline name, From(Source), To(Destination),Arrival time, Departure Time, Total Duration and price</a:t>
            </a:r>
          </a:p>
          <a:p>
            <a:r>
              <a:rPr lang="en-US" dirty="0"/>
              <a:t>Airlines includes Air India, Indigo, Air India Express, Spice Jet, Alliance Air and Star India.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B0F8B4-1479-455D-41C0-C6AC60F0E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137" y="4001729"/>
            <a:ext cx="8116433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5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FFC7-95A2-082B-0383-FF224577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7950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Data Understanding and Preprocessing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51192-D4BF-20D7-CEC5-55114E891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253331"/>
            <a:ext cx="10921181" cy="4923632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1) </a:t>
            </a:r>
            <a:r>
              <a:rPr lang="en-US" b="1" dirty="0"/>
              <a:t>Actions Performed :</a:t>
            </a:r>
          </a:p>
          <a:p>
            <a:pPr lvl="1"/>
            <a:r>
              <a:rPr lang="en-US" dirty="0"/>
              <a:t>Dataset contains flight listings scraped from </a:t>
            </a:r>
            <a:r>
              <a:rPr lang="en-US" dirty="0" err="1"/>
              <a:t>Irctc</a:t>
            </a:r>
            <a:r>
              <a:rPr lang="en-US" dirty="0"/>
              <a:t> website.</a:t>
            </a:r>
          </a:p>
          <a:p>
            <a:pPr lvl="1"/>
            <a:r>
              <a:rPr lang="en-US" dirty="0"/>
              <a:t>Each row represents one available flight option for a selected travel date.</a:t>
            </a:r>
          </a:p>
          <a:p>
            <a:pPr lvl="1"/>
            <a:r>
              <a:rPr lang="en-US" dirty="0"/>
              <a:t>Columns represent pricing, timing, airline information and travel characteristics.</a:t>
            </a:r>
          </a:p>
          <a:p>
            <a:pPr marL="114300" indent="0">
              <a:buNone/>
            </a:pPr>
            <a:r>
              <a:rPr lang="en-US" dirty="0"/>
              <a:t>2</a:t>
            </a:r>
            <a:r>
              <a:rPr lang="en-US" b="1" dirty="0"/>
              <a:t>) Key Columns</a:t>
            </a:r>
          </a:p>
          <a:p>
            <a:pPr lvl="1"/>
            <a:r>
              <a:rPr lang="en-US" dirty="0"/>
              <a:t>Airline – Operating airline for the flight (e.g., IndiGo, Air India, Vistara).</a:t>
            </a:r>
          </a:p>
          <a:p>
            <a:pPr lvl="1"/>
            <a:r>
              <a:rPr lang="en-US" dirty="0"/>
              <a:t>From / To – Origin and destination airports along with city codes (e.g., Hyderabad (HYD) → Mumbai (BOM)).</a:t>
            </a:r>
          </a:p>
          <a:p>
            <a:pPr lvl="1"/>
            <a:r>
              <a:rPr lang="en-US" dirty="0"/>
              <a:t>Date – Scheduled travel date for the flight listing.</a:t>
            </a:r>
          </a:p>
          <a:p>
            <a:pPr lvl="1"/>
            <a:r>
              <a:rPr lang="en-US" dirty="0"/>
              <a:t>Departure / Arrival Time – Scheduled departure and arrival times for the flight.</a:t>
            </a:r>
          </a:p>
          <a:p>
            <a:pPr lvl="1"/>
            <a:r>
              <a:rPr lang="en-US" dirty="0"/>
              <a:t>Duration – Total time taken for journey including possible layovers (e.g., 1h 55m).</a:t>
            </a:r>
          </a:p>
          <a:p>
            <a:pPr lvl="1"/>
            <a:r>
              <a:rPr lang="en-US" dirty="0"/>
              <a:t>Price – Final listed ticket fare for the flight (includes base fare + relevant charges).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44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27A6-5EF2-8BF8-0278-ED766EEA8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58" y="11931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Data Cleaning And Data Manipulation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84E72-F824-122B-8C2B-D96944181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506" y="1334013"/>
            <a:ext cx="11166987" cy="49586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Performed extensive data cleaning to ensure consistency and reliability across all scraped records.</a:t>
            </a:r>
          </a:p>
          <a:p>
            <a:r>
              <a:rPr lang="en-US" dirty="0"/>
              <a:t> Missing values were less than 1%, so rows were removed to maintain dataset quality.</a:t>
            </a:r>
          </a:p>
          <a:p>
            <a:r>
              <a:rPr lang="en-US" dirty="0"/>
              <a:t> Removed the rupee symbol from the price column as it was not needed for analysis.</a:t>
            </a:r>
          </a:p>
          <a:p>
            <a:r>
              <a:rPr lang="en-US" dirty="0"/>
              <a:t> Converted flight duration from hours to minutes to support meaningful comparisons.</a:t>
            </a:r>
          </a:p>
          <a:p>
            <a:r>
              <a:rPr lang="en-US" dirty="0"/>
              <a:t> Added a new </a:t>
            </a:r>
            <a:r>
              <a:rPr lang="en-US" b="1" dirty="0"/>
              <a:t>Route</a:t>
            </a:r>
            <a:r>
              <a:rPr lang="en-US" dirty="0"/>
              <a:t> column to combine source and destination.</a:t>
            </a:r>
          </a:p>
          <a:p>
            <a:r>
              <a:rPr lang="en-US" dirty="0"/>
              <a:t> Extracted hour components from both </a:t>
            </a:r>
            <a:r>
              <a:rPr lang="en-US" b="1" dirty="0"/>
              <a:t>Arrival</a:t>
            </a:r>
            <a:r>
              <a:rPr lang="en-US" dirty="0"/>
              <a:t> and </a:t>
            </a:r>
            <a:r>
              <a:rPr lang="en-US" b="1" dirty="0"/>
              <a:t>Departure</a:t>
            </a:r>
            <a:r>
              <a:rPr lang="en-US" dirty="0"/>
              <a:t> times to assist with later insights.</a:t>
            </a:r>
          </a:p>
        </p:txBody>
      </p:sp>
    </p:spTree>
    <p:extLst>
      <p:ext uri="{BB962C8B-B14F-4D97-AF65-F5344CB8AC3E}">
        <p14:creationId xmlns:p14="http://schemas.microsoft.com/office/powerpoint/2010/main" val="189788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B083E2-B079-3865-F03C-B078EFC4D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71" y="1261365"/>
            <a:ext cx="9045678" cy="46892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D220FC-C42E-D2DA-BD3F-F5E0E3D6A568}"/>
              </a:ext>
            </a:extLst>
          </p:cNvPr>
          <p:cNvSpPr txBox="1"/>
          <p:nvPr/>
        </p:nvSpPr>
        <p:spPr>
          <a:xfrm>
            <a:off x="875071" y="216310"/>
            <a:ext cx="113169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After Data Manipulation</a:t>
            </a:r>
            <a:endParaRPr lang="en-IN" sz="4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B198F3-D501-D276-8035-75620DE09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749" y="1261365"/>
            <a:ext cx="1105054" cy="468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DB8D6-63C7-7F16-4322-3889D596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64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Univariate Analysis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241F9-5040-7905-BDFE-00E7F83D5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4210"/>
            <a:ext cx="10515600" cy="4351338"/>
          </a:xfrm>
        </p:spPr>
        <p:txBody>
          <a:bodyPr/>
          <a:lstStyle/>
          <a:p>
            <a:r>
              <a:rPr lang="en-IN" dirty="0"/>
              <a:t> Airline — Count plot</a:t>
            </a:r>
          </a:p>
          <a:p>
            <a:r>
              <a:rPr lang="en-IN" dirty="0"/>
              <a:t> Price — KDE Plot</a:t>
            </a:r>
          </a:p>
          <a:p>
            <a:r>
              <a:rPr lang="en-IN" dirty="0"/>
              <a:t> Duration Minutes — Histogram + KDE</a:t>
            </a:r>
          </a:p>
          <a:p>
            <a:r>
              <a:rPr lang="en-IN" dirty="0"/>
              <a:t> Departure Hour — Count plot</a:t>
            </a:r>
          </a:p>
          <a:p>
            <a:r>
              <a:rPr lang="en-IN" dirty="0"/>
              <a:t> Price Segment — Pie Chart</a:t>
            </a:r>
          </a:p>
          <a:p>
            <a:r>
              <a:rPr lang="en-IN" dirty="0"/>
              <a:t> Duration Type — Donut Pie Chart</a:t>
            </a:r>
          </a:p>
        </p:txBody>
      </p:sp>
    </p:spTree>
    <p:extLst>
      <p:ext uri="{BB962C8B-B14F-4D97-AF65-F5344CB8AC3E}">
        <p14:creationId xmlns:p14="http://schemas.microsoft.com/office/powerpoint/2010/main" val="1162053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4CDD-8E13-EDDA-8D62-C5EB44B2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2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</a:rPr>
              <a:t>Flight Count by Airline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B94717-0EB1-EED3-2BCD-73F1E7849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2" y="1033348"/>
            <a:ext cx="8691716" cy="42957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ED6D4C-0AA7-AD45-8CCB-1CC6A3D86F39}"/>
              </a:ext>
            </a:extLst>
          </p:cNvPr>
          <p:cNvSpPr txBox="1"/>
          <p:nvPr/>
        </p:nvSpPr>
        <p:spPr>
          <a:xfrm>
            <a:off x="280219" y="5329084"/>
            <a:ext cx="11631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IndiGo and Air India operate the highest number of flights , whereas Alliance Air and Star Air have very limited presence.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shows stronger competition between leading carriers and niche participation from smaller airlines.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12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CC15-F354-33A6-BAA4-D011B2B37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Price Density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8D855-B3B1-3C30-8629-21E82F3C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312" y="1260757"/>
            <a:ext cx="9109375" cy="3891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9811C-78BD-E113-1765-DD5BCE00BEE5}"/>
              </a:ext>
            </a:extLst>
          </p:cNvPr>
          <p:cNvSpPr txBox="1"/>
          <p:nvPr/>
        </p:nvSpPr>
        <p:spPr>
          <a:xfrm>
            <a:off x="604683" y="5240593"/>
            <a:ext cx="109826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fares are mostly concentrated in lower to mid-tier price ranges, with fewer premium-priced flights.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suggests competitive pricing behavior with occasional higher fare offerings depending on route and schedule.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59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51D10-E9A3-34F6-F771-CF1DC60C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Distribution of Flight Durations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BB7FDB-BB6D-67EE-2E02-71669AB4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12" y="1551704"/>
            <a:ext cx="8770375" cy="3754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41C841-093E-054E-2D9F-0042E5A3FAA0}"/>
              </a:ext>
            </a:extLst>
          </p:cNvPr>
          <p:cNvSpPr txBox="1"/>
          <p:nvPr/>
        </p:nvSpPr>
        <p:spPr>
          <a:xfrm>
            <a:off x="481779" y="5306295"/>
            <a:ext cx="112284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flights fall within short to medium duration bands, which is consistent with the domestic nature of the routes.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Longer-duration flights also appear, possibly due to indirect flights, connecting itineraries, or less efficient schedules.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26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E1E0-E2F3-54E3-04E8-95982234F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7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Distribution of Departure Hours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268EC-844B-16AD-465D-DF5C4E86C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81" y="1290559"/>
            <a:ext cx="8976037" cy="3841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3DFC4-02C2-04E0-F7A4-BA389AA03744}"/>
              </a:ext>
            </a:extLst>
          </p:cNvPr>
          <p:cNvSpPr txBox="1"/>
          <p:nvPr/>
        </p:nvSpPr>
        <p:spPr>
          <a:xfrm>
            <a:off x="838199" y="5132438"/>
            <a:ext cx="111768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clear peaks in flight departures during the morning (around 7–9 AM) and evening (around 6–9 PM).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flights operate in early night and post-midnight hours. This indicates that airlines schedule more flights during passenger-preferred travel windows.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260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23E8-6EEE-FC74-A7D6-57385D955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67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Distribution of Price Segments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7BAED-C2ED-BDB5-8756-9D276997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88" y="1240164"/>
            <a:ext cx="6774424" cy="3787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C758D4-3711-F203-FC63-AC0CFB1121AB}"/>
              </a:ext>
            </a:extLst>
          </p:cNvPr>
          <p:cNvSpPr txBox="1"/>
          <p:nvPr/>
        </p:nvSpPr>
        <p:spPr>
          <a:xfrm>
            <a:off x="427703" y="5235488"/>
            <a:ext cx="113365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Nearly half of the flights fall under the "Standard" segment, followed by "Budget" and "Premium". "Luxury" flights form a very small minority.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indicates that the majority of flights are priced in affordable ranges rather than premium brackets.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12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D99CA-0FA6-F452-81EC-D9182588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Distribution of Duration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4CF48-5A08-681B-2C76-167F858F0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845" y="1825582"/>
            <a:ext cx="5762420" cy="3342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7D24E3-E95C-4100-3A72-23756443D269}"/>
              </a:ext>
            </a:extLst>
          </p:cNvPr>
          <p:cNvSpPr txBox="1"/>
          <p:nvPr/>
        </p:nvSpPr>
        <p:spPr>
          <a:xfrm>
            <a:off x="838199" y="5303448"/>
            <a:ext cx="10940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flights fall within short to medium duration ranges.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flights also appear but are fewer in number, likely due to indirect or less efficient routes.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752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EA8D-787E-2758-507F-7137C36A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20" y="21764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Bi variate Analysis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29F3B17-43E7-CB75-9000-896F154AE8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53440" y="1788999"/>
            <a:ext cx="1088136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Distribution Across Airlines (multiple density subplots)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vs Airline (boxplot)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vs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Type_of_Day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(boxplot — Weekend vs Weekday)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 vs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Type_of_Day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(stacked)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vs Price (scatter)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vs Departure Hour (line + confidence band)</a:t>
            </a:r>
          </a:p>
        </p:txBody>
      </p:sp>
    </p:spTree>
    <p:extLst>
      <p:ext uri="{BB962C8B-B14F-4D97-AF65-F5344CB8AC3E}">
        <p14:creationId xmlns:p14="http://schemas.microsoft.com/office/powerpoint/2010/main" val="1945766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542E-8401-D9F0-DF98-8C24FE46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Price Density Distribution Across Airlines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94B88-B6F2-C12B-9E28-E0B3276C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4348"/>
            <a:ext cx="11186160" cy="3850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45A5D1-F430-F17D-A738-9F7A35D53787}"/>
              </a:ext>
            </a:extLst>
          </p:cNvPr>
          <p:cNvSpPr txBox="1"/>
          <p:nvPr/>
        </p:nvSpPr>
        <p:spPr>
          <a:xfrm>
            <a:off x="502920" y="5152628"/>
            <a:ext cx="1118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Different airlines show different pricing patterns. Some have tight, consistent pricing, while others have wider spreads including premium fares.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Airlines follow different pricing strategies for the same route.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702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E48F-B2CD-1FE9-D623-305AE1DA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Flight Duration Across Airlines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B8F012-F6BF-826A-05E8-F6EDDE1CC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340" y="1610960"/>
            <a:ext cx="6781800" cy="3489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8B1B6-3623-689D-5E7E-26645130799C}"/>
              </a:ext>
            </a:extLst>
          </p:cNvPr>
          <p:cNvSpPr txBox="1"/>
          <p:nvPr/>
        </p:nvSpPr>
        <p:spPr>
          <a:xfrm>
            <a:off x="838200" y="5247040"/>
            <a:ext cx="10845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airlines show different travel durations; IndiGo &amp; Air India are mostly short and consistent, while SpiceJet &amp; Air India Express have longer and more variable durations.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024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7BE9-B938-F956-334A-B9BDF0F2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Price Comparison Between Weekdays and Weekends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47AD6-384F-B155-713A-8B7E02FD4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80" y="1625881"/>
            <a:ext cx="7660640" cy="3671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41B24F-B181-25DD-6D31-6EA2F8CD475A}"/>
              </a:ext>
            </a:extLst>
          </p:cNvPr>
          <p:cNvSpPr txBox="1"/>
          <p:nvPr/>
        </p:nvSpPr>
        <p:spPr>
          <a:xfrm>
            <a:off x="838200" y="5446732"/>
            <a:ext cx="11181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travelers typically fly during weekdays, are less price-sensitive, and often book last-minute — leading airlines to price weekday fares at a premium.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348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6ACF-C53D-EC79-D42F-2C5C63B4F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44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Flight Frequency by Airline and Day Type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D1DFC-B207-2AEE-C54A-BEC036DDC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160" y="1219200"/>
            <a:ext cx="7599680" cy="34754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6CC479-AA51-CE4E-B90A-660C022A7044}"/>
              </a:ext>
            </a:extLst>
          </p:cNvPr>
          <p:cNvSpPr txBox="1"/>
          <p:nvPr/>
        </p:nvSpPr>
        <p:spPr>
          <a:xfrm>
            <a:off x="838200" y="4945916"/>
            <a:ext cx="11008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flights operate on weekdays across all airlines, with weekends showing noticeably lower frequencies.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mainly because we have very few weekend data also airlines tend to release the tickets with hiked prices based on demand in weekends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679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BAF3-C94E-E4EB-6DE7-1AE56E39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Relationship Between Flight Duration and Ticket Price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45574-04DC-3775-2892-3B8B9D40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130" y="1690688"/>
            <a:ext cx="7695739" cy="33486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81DD2-5FEC-DA9F-0C3E-77DD61ED73A5}"/>
              </a:ext>
            </a:extLst>
          </p:cNvPr>
          <p:cNvSpPr txBox="1"/>
          <p:nvPr/>
        </p:nvSpPr>
        <p:spPr>
          <a:xfrm>
            <a:off x="838200" y="5372110"/>
            <a:ext cx="1104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increases loosely with duration, but the relationship is weak and scattered, indicating that duration alone does not fully determine fare.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261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EAF5-2C78-5DC3-C318-AEE0FEDD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Ticket Price Variation By Departure Hour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29CAB-2E76-A0A3-B0D4-7FDD049E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72" y="1236634"/>
            <a:ext cx="7924656" cy="41481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651ECF-ACD2-6C31-E49C-D04EEC7815FF}"/>
              </a:ext>
            </a:extLst>
          </p:cNvPr>
          <p:cNvSpPr txBox="1"/>
          <p:nvPr/>
        </p:nvSpPr>
        <p:spPr>
          <a:xfrm>
            <a:off x="838200" y="5727710"/>
            <a:ext cx="10988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Prices fluctuate with departure time, with higher fares around early morning and mid-afternoon, and slightly lower fares late at night.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20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55D7-E6AD-AA35-8186-ACF9BE74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Price Variation Across Flight Duration Types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00CE8-6866-F30C-F657-57E2DC877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60" y="1702399"/>
            <a:ext cx="8717280" cy="3453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65F406-21BE-C225-D668-4B89AF6BF8EC}"/>
              </a:ext>
            </a:extLst>
          </p:cNvPr>
          <p:cNvSpPr txBox="1"/>
          <p:nvPr/>
        </p:nvSpPr>
        <p:spPr>
          <a:xfrm>
            <a:off x="838200" y="5169436"/>
            <a:ext cx="11109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Longer-duration flights trend toward higher prices, while short-duration flights dominate Budget and Standard segments.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length contributes to cost structure, but pricing is not strictly proportional to flight time. It is mainly because of many factors such as 2 or 3 stops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162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07AD-D704-F3BF-C320-2DE69597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8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Outlier Analysis 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CA3CC-82BD-1C50-679F-EF149181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07" y="1154231"/>
            <a:ext cx="8723585" cy="34670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32E90E-B099-8A52-A7D5-D1FAA982A2B7}"/>
              </a:ext>
            </a:extLst>
          </p:cNvPr>
          <p:cNvSpPr txBox="1"/>
          <p:nvPr/>
        </p:nvSpPr>
        <p:spPr>
          <a:xfrm>
            <a:off x="584200" y="4823743"/>
            <a:ext cx="9718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1800" b="1" dirty="0"/>
              <a:t>What Happened (Analysis):</a:t>
            </a:r>
            <a:br>
              <a:rPr lang="en-US" sz="1800" dirty="0"/>
            </a:br>
            <a:r>
              <a:rPr lang="en-US" sz="1800" dirty="0"/>
              <a:t>• Price distribution is </a:t>
            </a:r>
            <a:r>
              <a:rPr lang="en-US" sz="1800" b="1" dirty="0"/>
              <a:t>right-skewed</a:t>
            </a:r>
            <a:r>
              <a:rPr lang="en-US" sz="1800" dirty="0"/>
              <a:t> with a long tail</a:t>
            </a:r>
            <a:br>
              <a:rPr lang="en-US" sz="1800" dirty="0"/>
            </a:br>
            <a:r>
              <a:rPr lang="en-US" sz="1800" dirty="0"/>
              <a:t>• Noticeable cluster of </a:t>
            </a:r>
            <a:r>
              <a:rPr lang="en-US" sz="1800" b="1" dirty="0"/>
              <a:t>high-price points</a:t>
            </a:r>
            <a:br>
              <a:rPr lang="en-US" sz="1800" dirty="0"/>
            </a:br>
            <a:r>
              <a:rPr lang="en-US" sz="1800" dirty="0"/>
              <a:t>• Outliers detected using </a:t>
            </a:r>
            <a:r>
              <a:rPr lang="en-US" sz="1800" b="1" dirty="0"/>
              <a:t>IQR Rule</a:t>
            </a:r>
            <a:br>
              <a:rPr lang="en-US" sz="1800" dirty="0"/>
            </a:br>
            <a:r>
              <a:rPr lang="en-US" sz="1800" dirty="0"/>
              <a:t>• Outliers ≈ </a:t>
            </a:r>
            <a:r>
              <a:rPr lang="en-US" sz="1800" b="1" dirty="0"/>
              <a:t>132 flights (~4.7%)</a:t>
            </a:r>
            <a:br>
              <a:rPr lang="en-US" sz="1800" dirty="0"/>
            </a:br>
            <a:r>
              <a:rPr lang="en-US" sz="1800" dirty="0"/>
              <a:t>• Indicates </a:t>
            </a:r>
            <a:r>
              <a:rPr lang="en-US" sz="1800" b="1" dirty="0"/>
              <a:t>heavy tails</a:t>
            </a:r>
            <a:r>
              <a:rPr lang="en-US" sz="1800" dirty="0"/>
              <a:t> (extreme values are meaningful)</a:t>
            </a: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410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32F197-42DF-C113-FD02-4185D4F876D0}"/>
              </a:ext>
            </a:extLst>
          </p:cNvPr>
          <p:cNvSpPr txBox="1"/>
          <p:nvPr/>
        </p:nvSpPr>
        <p:spPr>
          <a:xfrm>
            <a:off x="869420" y="1137363"/>
            <a:ext cx="2727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A2DA3-2D78-0D20-BDC7-8E12C44DB080}"/>
              </a:ext>
            </a:extLst>
          </p:cNvPr>
          <p:cNvSpPr txBox="1"/>
          <p:nvPr/>
        </p:nvSpPr>
        <p:spPr>
          <a:xfrm>
            <a:off x="869420" y="4704974"/>
            <a:ext cx="11003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price outliers represent genuine market behaviour rather than data errors. Removing them would hide important pricing dynamics, premium fare segments, and demand spikes relevant for airline pricing analysis.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99E28A5-17DB-4DB3-3E39-C57F8EA2A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20" y="1537473"/>
            <a:ext cx="341025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Skewness: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1.56 (Right Skew)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Kurtosis: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3.02 (Heavy Tails)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IQR: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3907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Upper Outlier Cutoff: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₹14,620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Outliers: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132 flights (4.7%)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56B95C-4AB0-0B86-9810-83C13358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256" y="864811"/>
            <a:ext cx="7591544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25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7997-0380-1808-ADAE-0360D07B4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35" y="11228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Hypothesis Testing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EA776-B998-AF97-CF5D-39FF64F2D284}"/>
              </a:ext>
            </a:extLst>
          </p:cNvPr>
          <p:cNvSpPr txBox="1"/>
          <p:nvPr/>
        </p:nvSpPr>
        <p:spPr>
          <a:xfrm>
            <a:off x="857865" y="3084871"/>
            <a:ext cx="938573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Tested :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1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Are weekend flights more expensive than weekday flights?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2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 different airlines charge different average ticket prices?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3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 different flight routes have different average ticket prices?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4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 different times of day have different average ticket prices?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5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 airline and flight duration jointly influence ticket prices?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FE06B-26F1-0374-EB65-5E7F858124CB}"/>
              </a:ext>
            </a:extLst>
          </p:cNvPr>
          <p:cNvSpPr txBox="1"/>
          <p:nvPr/>
        </p:nvSpPr>
        <p:spPr>
          <a:xfrm>
            <a:off x="857865" y="775070"/>
            <a:ext cx="100878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Hypothesis Testing?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method to check if a claim about data is true or not using statistics.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Use It?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verify patterns and differences with evidence instead of assumptions or guesswork.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We Gain From It?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helps us make confident, data-driven conclusions and avoid being misled by random variation.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921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7C15-166A-1BD1-2E34-516A6853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46234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Hypothesis 1 (T-Test)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F97AE-2CE2-DF92-7675-9CF142529B78}"/>
              </a:ext>
            </a:extLst>
          </p:cNvPr>
          <p:cNvSpPr txBox="1"/>
          <p:nvPr/>
        </p:nvSpPr>
        <p:spPr>
          <a:xfrm>
            <a:off x="533398" y="799416"/>
            <a:ext cx="109859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Are weekend flights more expensive than weekday flights?</a:t>
            </a:r>
          </a:p>
          <a:p>
            <a:pPr algn="l"/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Hypothesis (H0):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There is no difference in mean ticket price between weekend and weekday flights.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Hypothesis (H1):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Weekend flights have a different mean ticket price compared to weekday flights.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4CC2BB-F3EE-F04C-C31E-74D28933B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178" y="2455258"/>
            <a:ext cx="6395879" cy="34410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B9B750-0BE5-4269-858C-DEB2B759D8F9}"/>
              </a:ext>
            </a:extLst>
          </p:cNvPr>
          <p:cNvSpPr txBox="1"/>
          <p:nvPr/>
        </p:nvSpPr>
        <p:spPr>
          <a:xfrm>
            <a:off x="533398" y="2791589"/>
            <a:ext cx="547851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Reject Null Hypothesis.</a:t>
            </a:r>
          </a:p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Weekend flights tend to be priced differently compared to weekdays, suggesting a possible weekend premium or demand-based price adjustment.</a:t>
            </a:r>
          </a:p>
        </p:txBody>
      </p:sp>
    </p:spTree>
    <p:extLst>
      <p:ext uri="{BB962C8B-B14F-4D97-AF65-F5344CB8AC3E}">
        <p14:creationId xmlns:p14="http://schemas.microsoft.com/office/powerpoint/2010/main" val="3046287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26DC-967F-22A1-EDA1-54C3F34B9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739"/>
            <a:ext cx="10515600" cy="77776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Hypothesis 2 (ANOVA)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B6027-C1D1-3C94-9A4F-5CED60AA52E2}"/>
              </a:ext>
            </a:extLst>
          </p:cNvPr>
          <p:cNvSpPr txBox="1"/>
          <p:nvPr/>
        </p:nvSpPr>
        <p:spPr>
          <a:xfrm>
            <a:off x="838200" y="886654"/>
            <a:ext cx="108177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different airlines charge different average ticket prices?</a:t>
            </a:r>
          </a:p>
          <a:p>
            <a:pPr algn="l"/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Hypothesis (H0):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All airlines have equal mean ticket prices.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Hypothesis (H1):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At least one airline has a different mean ticket price.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9B008-DDD2-4EFA-7213-EA70B8E4E00A}"/>
              </a:ext>
            </a:extLst>
          </p:cNvPr>
          <p:cNvSpPr txBox="1"/>
          <p:nvPr/>
        </p:nvSpPr>
        <p:spPr>
          <a:xfrm>
            <a:off x="838200" y="2538394"/>
            <a:ext cx="54259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Reject Null Hypothesis.</a:t>
            </a:r>
          </a:p>
          <a:p>
            <a:pPr algn="l">
              <a:buNone/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Airlines adopt different pricing strategies based on service level, operating costs, and market positioning.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and full-service carriers tend to charge higher fares, while low-cost airlines compete more aggressively on price. For a traveler like</a:t>
            </a:r>
          </a:p>
          <a:p>
            <a:pPr algn="l">
              <a:buNone/>
            </a:pP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538003-47FE-72CE-C1F5-5F1FBCBC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9122"/>
            <a:ext cx="5990897" cy="373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67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4563-CE14-35CE-2C06-6D4FB673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55" y="302063"/>
            <a:ext cx="10515600" cy="68590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Hypothesis 3 (ANOVA)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9ABF9-A9BA-813D-8937-540D0EB2BA0F}"/>
              </a:ext>
            </a:extLst>
          </p:cNvPr>
          <p:cNvSpPr txBox="1"/>
          <p:nvPr/>
        </p:nvSpPr>
        <p:spPr>
          <a:xfrm>
            <a:off x="691054" y="886654"/>
            <a:ext cx="112486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different flight routes have different average ticket prices?</a:t>
            </a:r>
          </a:p>
          <a:p>
            <a:pPr algn="l"/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Hypothesis (H0):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All routes have equal mean ticket prices.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Hypothesis (H1):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At least one route has a different mean ticket price.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447EE-7012-D517-9E5E-4146B8F2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10093"/>
            <a:ext cx="5843751" cy="3863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7D59F4-594D-CCBC-6536-A055F6B2F46A}"/>
              </a:ext>
            </a:extLst>
          </p:cNvPr>
          <p:cNvSpPr txBox="1"/>
          <p:nvPr/>
        </p:nvSpPr>
        <p:spPr>
          <a:xfrm>
            <a:off x="546538" y="244225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</a:t>
            </a: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Reject Null Hypothesis.</a:t>
            </a:r>
          </a:p>
          <a:p>
            <a:pPr algn="l"/>
            <a:r>
              <a:rPr lang="en-US" sz="1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Route-specific factors such as demand, tourism patterns, business travel density, airport fees, and city connectivity influence pricing.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Busy business corridors may command premium fares, while tourist-heavy or low-demand routes may offer discounted pricing.</a:t>
            </a:r>
            <a:br>
              <a:rPr lang="en-US" sz="1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320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00EC-455D-1D76-F706-B6FC9202D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3898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Hypothesis 4 (ANOVA)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8CAB9-A5E5-E5A3-3096-4B3454624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38" y="2352825"/>
            <a:ext cx="5549462" cy="3806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71D949-E743-0D7E-B094-A67CA5E2ED06}"/>
              </a:ext>
            </a:extLst>
          </p:cNvPr>
          <p:cNvSpPr txBox="1"/>
          <p:nvPr/>
        </p:nvSpPr>
        <p:spPr>
          <a:xfrm>
            <a:off x="838199" y="883711"/>
            <a:ext cx="110069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Do different times of day have different average ticket prices?</a:t>
            </a:r>
          </a:p>
          <a:p>
            <a:pPr algn="l"/>
            <a:endParaRPr lang="en-US" sz="20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Hypothesis (H0):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All time-of-day groups have equal mean ticket prices.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Hypothesis (H1):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At least one time-of-day group has a different mean ticket price.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C38485-18ED-C15A-B36A-5BE6223DD7BE}"/>
              </a:ext>
            </a:extLst>
          </p:cNvPr>
          <p:cNvSpPr txBox="1"/>
          <p:nvPr/>
        </p:nvSpPr>
        <p:spPr>
          <a:xfrm>
            <a:off x="838199" y="2618261"/>
            <a:ext cx="55494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Reject/Fail to Reject Null Hypothesis.</a:t>
            </a:r>
          </a:p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Airlines may charge differently for red-eye (late-night), peak business hours, or evening travel demand. Time slot pricing is a real airline practice influenced by convenience, demand, and business travel patterns.</a:t>
            </a:r>
          </a:p>
        </p:txBody>
      </p:sp>
    </p:spTree>
    <p:extLst>
      <p:ext uri="{BB962C8B-B14F-4D97-AF65-F5344CB8AC3E}">
        <p14:creationId xmlns:p14="http://schemas.microsoft.com/office/powerpoint/2010/main" val="1499087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F2B3-8FFF-43C8-EF2E-68530045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33"/>
            <a:ext cx="10515600" cy="84356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Hypothesis 5 (Two-Way ANOVA)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F583E-8887-8CD9-69B3-F617FF84C6D1}"/>
              </a:ext>
            </a:extLst>
          </p:cNvPr>
          <p:cNvSpPr txBox="1"/>
          <p:nvPr/>
        </p:nvSpPr>
        <p:spPr>
          <a:xfrm>
            <a:off x="838200" y="899802"/>
            <a:ext cx="108072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airline and flight duration jointly influence ticket prices?</a:t>
            </a:r>
          </a:p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Hypothesis (H0):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Airline and duration have no effect on ticket prices.</a:t>
            </a:r>
          </a:p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Hypothesis (H1):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Airline or duration or their interaction affects ticket prices.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656E9-AD3B-6EE0-E969-F613D731C8E6}"/>
              </a:ext>
            </a:extLst>
          </p:cNvPr>
          <p:cNvSpPr txBox="1"/>
          <p:nvPr/>
        </p:nvSpPr>
        <p:spPr>
          <a:xfrm>
            <a:off x="838200" y="2132167"/>
            <a:ext cx="5257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</a:t>
            </a: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Reject Null Hypothesis.</a:t>
            </a:r>
          </a:p>
          <a:p>
            <a:pPr algn="l"/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Airline has a significant effect on ticket prices.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has a significant effect on ticket prices.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interaction between Airline and Duration is also significant.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indicates that flight duration and airline choice do not operate independently on pricing.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Instead, different airlines adjust prices differently as flight duration changes.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21EEF6-6B15-9527-F1E9-5F53A244C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15465"/>
            <a:ext cx="5843752" cy="393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309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1650-41D9-C868-5111-E6E17414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497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Challenges I Faced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590D9-0625-80B0-65A7-C0D914B73EF9}"/>
              </a:ext>
            </a:extLst>
          </p:cNvPr>
          <p:cNvSpPr txBox="1"/>
          <p:nvPr/>
        </p:nvSpPr>
        <p:spPr>
          <a:xfrm>
            <a:off x="838201" y="1110585"/>
            <a:ext cx="105155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Scraping the data the websites didn’t really give the permissions due to strong anti bot protection so I have to change to another website.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pricing data changes rapidly — results not consistent at each refresh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Airport mismatch like for goa there are 2 airports so it became a issue while scraping goa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 field stored as strings (e.g., “1h 45m”) → needed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 needed careful assumptions due to skewed distributions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 charts needed customization for readability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93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4E8E-343F-F891-4F2A-A3951A97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Key Recommendations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3C3A1-8B04-32D1-65CD-3299672081AE}"/>
              </a:ext>
            </a:extLst>
          </p:cNvPr>
          <p:cNvSpPr txBox="1"/>
          <p:nvPr/>
        </p:nvSpPr>
        <p:spPr>
          <a:xfrm>
            <a:off x="838200" y="1415845"/>
            <a:ext cx="108720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Compare Prices Across Airlines Before Booking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airlines price the same route differently. Checking multiple options can help avoid paying a premium for no added benefit.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Plan and Book in Advance When Possible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Weekday prices and last-minute fares are often higher due to business travel and demand spikes. Booking early helps secure better deals.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Check Route Variations and Stopovers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connecting routes or nearby airports can offer cheaper fares than direct flights. A small route change can save a lot of money.</a:t>
            </a: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Be Flexible with Travel Dates and Times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Prices change with demand, especially on weekends and peak hours. Shifting travel by a few hours or a day can reduce costs significantly.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387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5C59-F2CD-1720-7E47-1D4C0F0F1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60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Conclusion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A0B82E0-C9CD-8495-7AD5-784F199C99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1304495"/>
            <a:ext cx="1096051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ticket prices vary significantly based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of travel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Weekend vs weekday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fares differ — suggesting behavioral + demand-based pricing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Airlines follow different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 strategies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even on the same routes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flight durations tend to command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fares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not proportionally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Outliers represent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genuine market behavior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(premium flights, demand spikes, limited seats) — not noise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 confirms pricing is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influenced by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interacting variables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consumers, pricing is </a:t>
            </a:r>
            <a:r>
              <a:rPr lang="en-US" altLang="en-US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non-linear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timing-based; for airlines, pricing is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competitive and segmented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Flight fares are dynamic and multi-factorial, driven by airline strategy, demand patterns, and route economics, not just travel distance.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217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2295</Words>
  <Application>Microsoft Office PowerPoint</Application>
  <PresentationFormat>Widescreen</PresentationFormat>
  <Paragraphs>213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Libre Baskerville</vt:lpstr>
      <vt:lpstr>Lato Black</vt:lpstr>
      <vt:lpstr>Calibri</vt:lpstr>
      <vt:lpstr>Arial</vt:lpstr>
      <vt:lpstr>Wingdings</vt:lpstr>
      <vt:lpstr>Office Theme</vt:lpstr>
      <vt:lpstr>PowerPoint Presentation</vt:lpstr>
      <vt:lpstr>PowerPoint Presentation</vt:lpstr>
      <vt:lpstr>Agenda</vt:lpstr>
      <vt:lpstr>Business Problem </vt:lpstr>
      <vt:lpstr>Objective of the Project </vt:lpstr>
      <vt:lpstr>Web Scraping – Details</vt:lpstr>
      <vt:lpstr>Summary Of Data</vt:lpstr>
      <vt:lpstr>Data Understanding and Preprocessing </vt:lpstr>
      <vt:lpstr>Data Cleaning And Data Manipulation</vt:lpstr>
      <vt:lpstr>PowerPoint Presentation</vt:lpstr>
      <vt:lpstr>Univariate Analysis</vt:lpstr>
      <vt:lpstr>Flight Count by Airline</vt:lpstr>
      <vt:lpstr>Price Density Distribution</vt:lpstr>
      <vt:lpstr>Distribution of Flight Durations</vt:lpstr>
      <vt:lpstr>Distribution of Departure Hours</vt:lpstr>
      <vt:lpstr>Distribution of Price Segments</vt:lpstr>
      <vt:lpstr>Distribution of Duration Types</vt:lpstr>
      <vt:lpstr>Bi variate Analysis</vt:lpstr>
      <vt:lpstr>Price Density Distribution Across Airlines</vt:lpstr>
      <vt:lpstr>Flight Duration Across Airlines</vt:lpstr>
      <vt:lpstr>Price Comparison Between Weekdays and Weekends</vt:lpstr>
      <vt:lpstr>Flight Frequency by Airline and Day Type</vt:lpstr>
      <vt:lpstr>Relationship Between Flight Duration and Ticket Price</vt:lpstr>
      <vt:lpstr>Ticket Price Variation By Departure Hour</vt:lpstr>
      <vt:lpstr>Price Variation Across Flight Duration Types</vt:lpstr>
      <vt:lpstr>Outlier Analysis </vt:lpstr>
      <vt:lpstr>PowerPoint Presentation</vt:lpstr>
      <vt:lpstr>Hypothesis Testing </vt:lpstr>
      <vt:lpstr>Hypothesis 1 (T-Test)</vt:lpstr>
      <vt:lpstr>Hypothesis 2 (ANOVA) </vt:lpstr>
      <vt:lpstr>Hypothesis 3 (ANOVA) </vt:lpstr>
      <vt:lpstr>Hypothesis 4 (ANOVA) </vt:lpstr>
      <vt:lpstr>Hypothesis 5 (Two-Way ANOVA) </vt:lpstr>
      <vt:lpstr>Challenges I Faced </vt:lpstr>
      <vt:lpstr>Key Recommendations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175-saran Akula</cp:lastModifiedBy>
  <cp:revision>11</cp:revision>
  <dcterms:created xsi:type="dcterms:W3CDTF">2021-02-16T05:19:01Z</dcterms:created>
  <dcterms:modified xsi:type="dcterms:W3CDTF">2026-01-28T18:48:38Z</dcterms:modified>
</cp:coreProperties>
</file>